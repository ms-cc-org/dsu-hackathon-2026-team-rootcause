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grandir Narrow Bold" charset="1" panose="00000806000000000000"/>
      <p:regular r:id="rId14"/>
    </p:embeddedFont>
    <p:embeddedFont>
      <p:font typeface="Agrandir Narrow" charset="1" panose="00000506000000000000"/>
      <p:regular r:id="rId15"/>
    </p:embeddedFont>
    <p:embeddedFont>
      <p:font typeface="Agrandir Narrow Italics" charset="1" panose="00000506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381" t="-15268" r="-83102" b="-817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3941" y="1456522"/>
            <a:ext cx="17240118" cy="455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39"/>
              </a:lnSpc>
              <a:spcBef>
                <a:spcPct val="0"/>
              </a:spcBef>
            </a:pPr>
            <a:r>
              <a:rPr lang="en-US" b="true" sz="12099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End-to-End Agricultural Resilience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14213" y="8213066"/>
            <a:ext cx="5949846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294">
                <a:solidFill>
                  <a:srgbClr val="1C212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Amari Majette, Brianna Snell, Habibah Kashmiri, Hafsah Kashmiri, Ebonee Kent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55955"/>
            <a:ext cx="2682830" cy="56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i="true">
                <a:solidFill>
                  <a:srgbClr val="000000"/>
                </a:solidFill>
                <a:latin typeface="Agrandir Narrow Italics"/>
                <a:ea typeface="Agrandir Narrow Italics"/>
                <a:cs typeface="Agrandir Narrow Italics"/>
                <a:sym typeface="Agrandir Narrow Italics"/>
              </a:rPr>
              <a:t>RootCause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92704" y="7346291"/>
            <a:ext cx="224301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u="sng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</a:t>
            </a:r>
            <a:r>
              <a:rPr lang="en-US" sz="3000" u="sng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resented By: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40329" y="6347453"/>
            <a:ext cx="11728054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Spring Planting &amp; Summer Drought Intelligence Across CA, DE, IA, and NE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6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2075" y="3447528"/>
            <a:ext cx="4963850" cy="4685401"/>
            <a:chOff x="0" y="0"/>
            <a:chExt cx="1307352" cy="1234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7352" cy="1234015"/>
            </a:xfrm>
            <a:custGeom>
              <a:avLst/>
              <a:gdLst/>
              <a:ahLst/>
              <a:cxnLst/>
              <a:rect r="r" b="b" t="t" l="l"/>
              <a:pathLst>
                <a:path h="1234015" w="1307352">
                  <a:moveTo>
                    <a:pt x="79543" y="0"/>
                  </a:moveTo>
                  <a:lnTo>
                    <a:pt x="1227809" y="0"/>
                  </a:lnTo>
                  <a:cubicBezTo>
                    <a:pt x="1248905" y="0"/>
                    <a:pt x="1269137" y="8380"/>
                    <a:pt x="1284054" y="23298"/>
                  </a:cubicBezTo>
                  <a:cubicBezTo>
                    <a:pt x="1298971" y="38215"/>
                    <a:pt x="1307352" y="58447"/>
                    <a:pt x="1307352" y="79543"/>
                  </a:cubicBezTo>
                  <a:lnTo>
                    <a:pt x="1307352" y="1154472"/>
                  </a:lnTo>
                  <a:cubicBezTo>
                    <a:pt x="1307352" y="1198403"/>
                    <a:pt x="1271739" y="1234015"/>
                    <a:pt x="1227809" y="1234015"/>
                  </a:cubicBezTo>
                  <a:lnTo>
                    <a:pt x="79543" y="1234015"/>
                  </a:lnTo>
                  <a:cubicBezTo>
                    <a:pt x="58447" y="1234015"/>
                    <a:pt x="38215" y="1225635"/>
                    <a:pt x="23298" y="1210717"/>
                  </a:cubicBezTo>
                  <a:cubicBezTo>
                    <a:pt x="8380" y="1195800"/>
                    <a:pt x="0" y="1175568"/>
                    <a:pt x="0" y="1154472"/>
                  </a:cubicBezTo>
                  <a:lnTo>
                    <a:pt x="0" y="79543"/>
                  </a:lnTo>
                  <a:cubicBezTo>
                    <a:pt x="0" y="58447"/>
                    <a:pt x="8380" y="38215"/>
                    <a:pt x="23298" y="23298"/>
                  </a:cubicBezTo>
                  <a:cubicBezTo>
                    <a:pt x="38215" y="8380"/>
                    <a:pt x="58447" y="0"/>
                    <a:pt x="79543" y="0"/>
                  </a:cubicBezTo>
                  <a:close/>
                </a:path>
              </a:pathLst>
            </a:custGeom>
            <a:solidFill>
              <a:srgbClr val="F5EBC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7352" cy="1272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54453" y="5482963"/>
            <a:ext cx="2779094" cy="2371722"/>
          </a:xfrm>
          <a:custGeom>
            <a:avLst/>
            <a:gdLst/>
            <a:ahLst/>
            <a:cxnLst/>
            <a:rect r="r" b="b" t="t" l="l"/>
            <a:pathLst>
              <a:path h="2371722" w="2779094">
                <a:moveTo>
                  <a:pt x="0" y="0"/>
                </a:moveTo>
                <a:lnTo>
                  <a:pt x="2779094" y="0"/>
                </a:lnTo>
                <a:lnTo>
                  <a:pt x="2779094" y="2371722"/>
                </a:lnTo>
                <a:lnTo>
                  <a:pt x="0" y="2371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588" r="0" b="-858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644" y="53132"/>
            <a:ext cx="17893652" cy="172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4"/>
              </a:lnSpc>
            </a:pPr>
            <a:r>
              <a:rPr lang="en-US" b="true" sz="10200">
                <a:solidFill>
                  <a:srgbClr val="F5EBCE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41521" y="2155303"/>
            <a:ext cx="6804958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0"/>
              </a:lnSpc>
              <a:spcBef>
                <a:spcPct val="0"/>
              </a:spcBef>
            </a:pPr>
            <a:r>
              <a:rPr lang="en-US" sz="5000">
                <a:solidFill>
                  <a:srgbClr val="F5EBCE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Summer Drought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196" y="8529498"/>
            <a:ext cx="16880547" cy="151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0"/>
              </a:lnSpc>
              <a:spcBef>
                <a:spcPct val="0"/>
              </a:spcBef>
            </a:pPr>
            <a:r>
              <a:rPr lang="en-US" sz="5000">
                <a:solidFill>
                  <a:srgbClr val="F5EBCE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The Challenge: Making informed decisions before crop damage occurs.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2075" y="4058906"/>
            <a:ext cx="4963850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Drought affect</a:t>
            </a:r>
            <a:r>
              <a:rPr lang="en-US" sz="30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 counties differently depending on weather and soil conditions.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B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79486" y="6126804"/>
          <a:ext cx="17494164" cy="3312471"/>
        </p:xfrm>
        <a:graphic>
          <a:graphicData uri="http://schemas.openxmlformats.org/drawingml/2006/table">
            <a:tbl>
              <a:tblPr/>
              <a:tblGrid>
                <a:gridCol w="2915694"/>
                <a:gridCol w="2915694"/>
                <a:gridCol w="2915694"/>
                <a:gridCol w="2915694"/>
                <a:gridCol w="2915694"/>
                <a:gridCol w="2915694"/>
              </a:tblGrid>
              <a:tr h="11489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March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A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April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A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May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June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July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August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</a:tr>
              <a:tr h="21635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Initial Frost Risks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Servere Frost Events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Lingering Frost Risks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Transition Period 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High Drought Defence 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Critical Water Need</a:t>
                      </a:r>
                      <a:endParaRPr lang="en-US" sz="1100"/>
                    </a:p>
                  </a:txBody>
                  <a:tcPr marL="222546" marR="222546" marT="222546" marB="222546" anchor="ctr">
                    <a:lnL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509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CE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4608044" y="7890001"/>
            <a:ext cx="545984" cy="54598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80810" y="7890001"/>
            <a:ext cx="545984" cy="54598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71008" y="7890001"/>
            <a:ext cx="545984" cy="54598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26341" y="7890001"/>
            <a:ext cx="545984" cy="54598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899107" y="7890001"/>
            <a:ext cx="545984" cy="54598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806987" y="4158306"/>
            <a:ext cx="1149951" cy="1095192"/>
          </a:xfrm>
          <a:custGeom>
            <a:avLst/>
            <a:gdLst/>
            <a:ahLst/>
            <a:cxnLst/>
            <a:rect r="r" b="b" t="t" l="l"/>
            <a:pathLst>
              <a:path h="1095192" w="1149951">
                <a:moveTo>
                  <a:pt x="0" y="0"/>
                </a:moveTo>
                <a:lnTo>
                  <a:pt x="1149951" y="0"/>
                </a:lnTo>
                <a:lnTo>
                  <a:pt x="1149951" y="1095192"/>
                </a:lnTo>
                <a:lnTo>
                  <a:pt x="0" y="1095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891" t="-24973" r="-67523" b="-34517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145066" y="4292399"/>
            <a:ext cx="477037" cy="751240"/>
          </a:xfrm>
          <a:custGeom>
            <a:avLst/>
            <a:gdLst/>
            <a:ahLst/>
            <a:cxnLst/>
            <a:rect r="r" b="b" t="t" l="l"/>
            <a:pathLst>
              <a:path h="751240" w="477037">
                <a:moveTo>
                  <a:pt x="0" y="0"/>
                </a:moveTo>
                <a:lnTo>
                  <a:pt x="477037" y="0"/>
                </a:lnTo>
                <a:lnTo>
                  <a:pt x="477037" y="751240"/>
                </a:lnTo>
                <a:lnTo>
                  <a:pt x="0" y="751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054" y="446604"/>
            <a:ext cx="17729029" cy="310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4"/>
              </a:lnSpc>
            </a:pPr>
            <a:r>
              <a:rPr lang="en-US" b="true" sz="10200">
                <a:solidFill>
                  <a:srgbClr val="34482A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Tailored Intelligence for Agricultural Decision-Makers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95586" y="4251599"/>
            <a:ext cx="3588632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Extensi</a:t>
            </a:r>
            <a:r>
              <a:rPr lang="en-US" sz="3000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on Agronomist: </a:t>
            </a:r>
          </a:p>
          <a:p>
            <a:pPr algn="l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Spring Window</a:t>
            </a:r>
          </a:p>
          <a:p>
            <a:pPr algn="l">
              <a:lnSpc>
                <a:spcPts val="321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982510" y="4233462"/>
            <a:ext cx="4837976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9"/>
              </a:lnSpc>
              <a:spcBef>
                <a:spcPct val="0"/>
              </a:spcBef>
            </a:pPr>
            <a:r>
              <a:rPr lang="en-US" sz="2999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NRCS R</a:t>
            </a:r>
            <a:r>
              <a:rPr lang="en-US" sz="2999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egional Officer: </a:t>
            </a:r>
          </a:p>
          <a:p>
            <a:pPr algn="l">
              <a:lnSpc>
                <a:spcPts val="3209"/>
              </a:lnSpc>
              <a:spcBef>
                <a:spcPct val="0"/>
              </a:spcBef>
            </a:pPr>
            <a:r>
              <a:rPr lang="en-US" sz="2999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Summer Window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6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7240" y="1972283"/>
            <a:ext cx="5436656" cy="7601957"/>
            <a:chOff x="0" y="0"/>
            <a:chExt cx="1431876" cy="20021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1876" cy="2002162"/>
            </a:xfrm>
            <a:custGeom>
              <a:avLst/>
              <a:gdLst/>
              <a:ahLst/>
              <a:cxnLst/>
              <a:rect r="r" b="b" t="t" l="l"/>
              <a:pathLst>
                <a:path h="2002162" w="1431876">
                  <a:moveTo>
                    <a:pt x="72625" y="0"/>
                  </a:moveTo>
                  <a:lnTo>
                    <a:pt x="1359251" y="0"/>
                  </a:lnTo>
                  <a:cubicBezTo>
                    <a:pt x="1399361" y="0"/>
                    <a:pt x="1431876" y="32515"/>
                    <a:pt x="1431876" y="72625"/>
                  </a:cubicBezTo>
                  <a:lnTo>
                    <a:pt x="1431876" y="1929536"/>
                  </a:lnTo>
                  <a:cubicBezTo>
                    <a:pt x="1431876" y="1948798"/>
                    <a:pt x="1424225" y="1967270"/>
                    <a:pt x="1410605" y="1980890"/>
                  </a:cubicBezTo>
                  <a:cubicBezTo>
                    <a:pt x="1396985" y="1994510"/>
                    <a:pt x="1378513" y="2002162"/>
                    <a:pt x="1359251" y="2002162"/>
                  </a:cubicBezTo>
                  <a:lnTo>
                    <a:pt x="72625" y="2002162"/>
                  </a:lnTo>
                  <a:cubicBezTo>
                    <a:pt x="32515" y="2002162"/>
                    <a:pt x="0" y="1969646"/>
                    <a:pt x="0" y="1929536"/>
                  </a:cubicBezTo>
                  <a:lnTo>
                    <a:pt x="0" y="72625"/>
                  </a:lnTo>
                  <a:cubicBezTo>
                    <a:pt x="0" y="32515"/>
                    <a:pt x="32515" y="0"/>
                    <a:pt x="72625" y="0"/>
                  </a:cubicBezTo>
                  <a:close/>
                </a:path>
              </a:pathLst>
            </a:custGeom>
            <a:solidFill>
              <a:srgbClr val="F5EBC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1876" cy="2040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567897" y="1972283"/>
            <a:ext cx="5436656" cy="7601957"/>
            <a:chOff x="0" y="0"/>
            <a:chExt cx="1431876" cy="20021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1876" cy="2002162"/>
            </a:xfrm>
            <a:custGeom>
              <a:avLst/>
              <a:gdLst/>
              <a:ahLst/>
              <a:cxnLst/>
              <a:rect r="r" b="b" t="t" l="l"/>
              <a:pathLst>
                <a:path h="2002162" w="1431876">
                  <a:moveTo>
                    <a:pt x="72625" y="0"/>
                  </a:moveTo>
                  <a:lnTo>
                    <a:pt x="1359251" y="0"/>
                  </a:lnTo>
                  <a:cubicBezTo>
                    <a:pt x="1399361" y="0"/>
                    <a:pt x="1431876" y="32515"/>
                    <a:pt x="1431876" y="72625"/>
                  </a:cubicBezTo>
                  <a:lnTo>
                    <a:pt x="1431876" y="1929536"/>
                  </a:lnTo>
                  <a:cubicBezTo>
                    <a:pt x="1431876" y="1948798"/>
                    <a:pt x="1424225" y="1967270"/>
                    <a:pt x="1410605" y="1980890"/>
                  </a:cubicBezTo>
                  <a:cubicBezTo>
                    <a:pt x="1396985" y="1994510"/>
                    <a:pt x="1378513" y="2002162"/>
                    <a:pt x="1359251" y="2002162"/>
                  </a:cubicBezTo>
                  <a:lnTo>
                    <a:pt x="72625" y="2002162"/>
                  </a:lnTo>
                  <a:cubicBezTo>
                    <a:pt x="32515" y="2002162"/>
                    <a:pt x="0" y="1969646"/>
                    <a:pt x="0" y="1929536"/>
                  </a:cubicBezTo>
                  <a:lnTo>
                    <a:pt x="0" y="72625"/>
                  </a:lnTo>
                  <a:cubicBezTo>
                    <a:pt x="0" y="32515"/>
                    <a:pt x="32515" y="0"/>
                    <a:pt x="72625" y="0"/>
                  </a:cubicBezTo>
                  <a:close/>
                </a:path>
              </a:pathLst>
            </a:custGeom>
            <a:solidFill>
              <a:srgbClr val="F5EBC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31876" cy="2040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70831" y="5912486"/>
            <a:ext cx="4669475" cy="2550701"/>
          </a:xfrm>
          <a:custGeom>
            <a:avLst/>
            <a:gdLst/>
            <a:ahLst/>
            <a:cxnLst/>
            <a:rect r="r" b="b" t="t" l="l"/>
            <a:pathLst>
              <a:path h="2550701" w="4669475">
                <a:moveTo>
                  <a:pt x="0" y="0"/>
                </a:moveTo>
                <a:lnTo>
                  <a:pt x="4669475" y="0"/>
                </a:lnTo>
                <a:lnTo>
                  <a:pt x="4669475" y="2550701"/>
                </a:lnTo>
                <a:lnTo>
                  <a:pt x="0" y="255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04272" y="5912486"/>
            <a:ext cx="4963905" cy="2708431"/>
          </a:xfrm>
          <a:custGeom>
            <a:avLst/>
            <a:gdLst/>
            <a:ahLst/>
            <a:cxnLst/>
            <a:rect r="r" b="b" t="t" l="l"/>
            <a:pathLst>
              <a:path h="2708431" w="4963905">
                <a:moveTo>
                  <a:pt x="0" y="0"/>
                </a:moveTo>
                <a:lnTo>
                  <a:pt x="4963905" y="0"/>
                </a:lnTo>
                <a:lnTo>
                  <a:pt x="4963905" y="2708431"/>
                </a:lnTo>
                <a:lnTo>
                  <a:pt x="0" y="270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20645" y="251306"/>
            <a:ext cx="8046709" cy="172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4"/>
              </a:lnSpc>
            </a:pPr>
            <a:r>
              <a:rPr lang="en-US" b="true" sz="10200">
                <a:solidFill>
                  <a:srgbClr val="F5EBCE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Our 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4272" y="4387355"/>
            <a:ext cx="4811680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Planting guidance based on historical frost data.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0831" y="4187330"/>
            <a:ext cx="4669475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Drought maps, soil conditions, and crop-yield trends.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80385" y="3137283"/>
            <a:ext cx="4811680" cy="61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1"/>
              </a:lnSpc>
              <a:spcBef>
                <a:spcPct val="0"/>
              </a:spcBef>
            </a:pPr>
            <a:r>
              <a:rPr lang="en-US" b="true" sz="3599" u="sng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S</a:t>
            </a:r>
            <a:r>
              <a:rPr lang="en-US" b="true" sz="3599" u="sng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pring Frost Calendar: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99729" y="3137283"/>
            <a:ext cx="4811680" cy="61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1"/>
              </a:lnSpc>
              <a:spcBef>
                <a:spcPct val="0"/>
              </a:spcBef>
            </a:pPr>
            <a:r>
              <a:rPr lang="en-US" b="true" sz="3599" u="sng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</a:t>
            </a:r>
            <a:r>
              <a:rPr lang="en-US" b="true" sz="3599" u="sng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ounty Explorer: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B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42" y="4936349"/>
            <a:ext cx="1325673" cy="1080423"/>
          </a:xfrm>
          <a:custGeom>
            <a:avLst/>
            <a:gdLst/>
            <a:ahLst/>
            <a:cxnLst/>
            <a:rect r="r" b="b" t="t" l="l"/>
            <a:pathLst>
              <a:path h="1080423" w="1325673">
                <a:moveTo>
                  <a:pt x="0" y="0"/>
                </a:moveTo>
                <a:lnTo>
                  <a:pt x="1325673" y="0"/>
                </a:lnTo>
                <a:lnTo>
                  <a:pt x="1325673" y="1080423"/>
                </a:lnTo>
                <a:lnTo>
                  <a:pt x="0" y="1080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72642" y="7940404"/>
            <a:ext cx="1245828" cy="1121245"/>
          </a:xfrm>
          <a:custGeom>
            <a:avLst/>
            <a:gdLst/>
            <a:ahLst/>
            <a:cxnLst/>
            <a:rect r="r" b="b" t="t" l="l"/>
            <a:pathLst>
              <a:path h="1121245" w="1245828">
                <a:moveTo>
                  <a:pt x="0" y="0"/>
                </a:moveTo>
                <a:lnTo>
                  <a:pt x="1245828" y="0"/>
                </a:lnTo>
                <a:lnTo>
                  <a:pt x="1245828" y="1121245"/>
                </a:lnTo>
                <a:lnTo>
                  <a:pt x="0" y="1121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2527" y="6201213"/>
            <a:ext cx="8473122" cy="2537344"/>
          </a:xfrm>
          <a:custGeom>
            <a:avLst/>
            <a:gdLst/>
            <a:ahLst/>
            <a:cxnLst/>
            <a:rect r="r" b="b" t="t" l="l"/>
            <a:pathLst>
              <a:path h="2537344" w="8473122">
                <a:moveTo>
                  <a:pt x="0" y="0"/>
                </a:moveTo>
                <a:lnTo>
                  <a:pt x="8473122" y="0"/>
                </a:lnTo>
                <a:lnTo>
                  <a:pt x="8473122" y="2537344"/>
                </a:lnTo>
                <a:lnTo>
                  <a:pt x="0" y="25373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8316" y="626870"/>
            <a:ext cx="16571368" cy="310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4"/>
              </a:lnSpc>
            </a:pPr>
            <a:r>
              <a:rPr lang="en-US" b="true" sz="10200">
                <a:solidFill>
                  <a:srgbClr val="34482A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Data, Validation &amp; 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86042"/>
            <a:ext cx="7372213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Trained on hist</a:t>
            </a:r>
            <a:r>
              <a:rPr lang="en-US" sz="3000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orical weather and agricultural records covering 2000–2025 across all 4 states.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08679" y="5204145"/>
            <a:ext cx="4067651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Frost Calendar Validation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08679" y="8241352"/>
            <a:ext cx="4929624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Transparency and Limitations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6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1097" y="3142218"/>
            <a:ext cx="2792142" cy="3649859"/>
          </a:xfrm>
          <a:custGeom>
            <a:avLst/>
            <a:gdLst/>
            <a:ahLst/>
            <a:cxnLst/>
            <a:rect r="r" b="b" t="t" l="l"/>
            <a:pathLst>
              <a:path h="3649859" w="2792142">
                <a:moveTo>
                  <a:pt x="0" y="0"/>
                </a:moveTo>
                <a:lnTo>
                  <a:pt x="2792143" y="0"/>
                </a:lnTo>
                <a:lnTo>
                  <a:pt x="2792143" y="3649860"/>
                </a:lnTo>
                <a:lnTo>
                  <a:pt x="0" y="364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31372" y="2973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48400" y="387810"/>
            <a:ext cx="12791199" cy="172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4"/>
              </a:lnSpc>
            </a:pPr>
            <a:r>
              <a:rPr lang="en-US" sz="10200" b="true">
                <a:solidFill>
                  <a:srgbClr val="F5EBCE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Impact &amp;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45105" y="7327614"/>
            <a:ext cx="5104127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F5EBCE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Spring: M</a:t>
            </a:r>
            <a:r>
              <a:rPr lang="en-US" sz="3000">
                <a:solidFill>
                  <a:srgbClr val="F5EBCE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ore informed planting guidance.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49322" y="7495930"/>
            <a:ext cx="4478900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sz="3000">
                <a:solidFill>
                  <a:srgbClr val="F5EBCE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</a:t>
            </a:r>
            <a:r>
              <a:rPr lang="en-US" sz="3000">
                <a:solidFill>
                  <a:srgbClr val="F5EBCE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ummer: Better drought-risk awareness.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210675"/>
            <a:ext cx="16066500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F5EBCE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Our Mission: Supporting agricultural professionals and the farmers they serve.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B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6668" y="1824572"/>
            <a:ext cx="15134664" cy="8229474"/>
          </a:xfrm>
          <a:custGeom>
            <a:avLst/>
            <a:gdLst/>
            <a:ahLst/>
            <a:cxnLst/>
            <a:rect r="r" b="b" t="t" l="l"/>
            <a:pathLst>
              <a:path h="8229474" w="15134664">
                <a:moveTo>
                  <a:pt x="0" y="0"/>
                </a:moveTo>
                <a:lnTo>
                  <a:pt x="15134664" y="0"/>
                </a:lnTo>
                <a:lnTo>
                  <a:pt x="15134664" y="8229474"/>
                </a:lnTo>
                <a:lnTo>
                  <a:pt x="0" y="8229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11286" y="61378"/>
            <a:ext cx="7865428" cy="173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b="true" sz="10249">
                <a:solidFill>
                  <a:srgbClr val="34482A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Live- Demo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34168"/>
            <a:ext cx="16192235" cy="365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31"/>
              </a:lnSpc>
              <a:spcBef>
                <a:spcPct val="0"/>
              </a:spcBef>
            </a:pPr>
            <a:r>
              <a:rPr lang="en-US" b="true" sz="18308">
                <a:solidFill>
                  <a:srgbClr val="34482A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82194" y="5031534"/>
            <a:ext cx="6885247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spc="389">
                <a:solidFill>
                  <a:srgbClr val="34482A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QUESTIONS?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55955"/>
            <a:ext cx="2682830" cy="56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i="true">
                <a:solidFill>
                  <a:srgbClr val="000000"/>
                </a:solidFill>
                <a:latin typeface="Agrandir Narrow Italics"/>
                <a:ea typeface="Agrandir Narrow Italics"/>
                <a:cs typeface="Agrandir Narrow Italics"/>
                <a:sym typeface="Agrandir Narrow Italics"/>
              </a:rPr>
              <a:t>RootCause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35059" y="655955"/>
            <a:ext cx="3141553" cy="106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MS-CC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DAHYSjCe-OY</dc:identifier>
  <dcterms:modified xsi:type="dcterms:W3CDTF">2011-08-01T06:04:30Z</dcterms:modified>
  <cp:revision>1</cp:revision>
  <dc:title>Natural Resources Conservation Service</dc:title>
</cp:coreProperties>
</file>